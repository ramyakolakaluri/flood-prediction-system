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500252D-6BFF-4629-946E-67DD07FDE14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85AA0B-7863-4655-9698-12C0017EF0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7C4B8B-ED4E-438D-A0A2-BDCF90E89B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016DD2-9D0F-426D-B376-8F1E9B4A8C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9B23DD-330C-40C6-B901-A4252EEBF0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2E9196-0B4C-4828-92E6-536D3197C1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0BA7E2-0637-4272-BFE6-1260235488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57D099-24AE-495A-9FF6-22354D9D50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DF461C-6D90-47B5-BDD1-AA2B8D3B04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828E70-00E1-44CF-B877-F3F409A7EC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DC51BC-CDF8-4361-847B-A4DB50F0FF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33CAC4-6068-4F82-8DD2-B17D6CBE1B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4F619C-6F18-43B5-989E-F288C5046B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2DD1D8-5525-403E-BF62-1DE9F2AE4A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E76558-C0C2-4E99-B42F-5A89B92BA5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5AB403-872E-464E-AFDD-7B20E575BA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cent Circle 1"/>
          <p:cNvSpPr/>
          <p:nvPr/>
        </p:nvSpPr>
        <p:spPr>
          <a:xfrm>
            <a:off x="10199880" y="-1299960"/>
            <a:ext cx="3199680" cy="3199680"/>
          </a:xfrm>
          <a:prstGeom prst="ellipse">
            <a:avLst/>
          </a:prstGeom>
          <a:solidFill>
            <a:srgbClr val="f4f6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Accent Circle 2"/>
          <p:cNvSpPr/>
          <p:nvPr/>
        </p:nvSpPr>
        <p:spPr>
          <a:xfrm>
            <a:off x="-1400040" y="5600160"/>
            <a:ext cx="2899800" cy="2899800"/>
          </a:xfrm>
          <a:prstGeom prst="ellipse">
            <a:avLst/>
          </a:prstGeom>
          <a:solidFill>
            <a:srgbClr val="f4f6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365760"/>
            <a:ext cx="1072548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16264d"/>
                </a:solidFill>
                <a:latin typeface="Georgia"/>
                <a:ea typeface="Georgia"/>
              </a:rPr>
              <a:t>APSCHE - KickStack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31520" y="762480"/>
            <a:ext cx="1072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16264d"/>
                </a:solidFill>
                <a:latin typeface="Georgia"/>
                <a:ea typeface="Georgia"/>
              </a:rPr>
              <a:t>Andhra Pradesh State Council of Higher Education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31520" y="1024200"/>
            <a:ext cx="1072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16264d"/>
                </a:solidFill>
                <a:latin typeface="Georgia"/>
                <a:ea typeface="Georgia"/>
              </a:rPr>
              <a:t>Domain: Artificial Intelligence &amp; Machine Learning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02920" y="1478160"/>
            <a:ext cx="11183040" cy="360"/>
          </a:xfrm>
          <a:prstGeom prst="line">
            <a:avLst/>
          </a:prstGeom>
          <a:ln w="9525">
            <a:solidFill>
              <a:srgbClr val="c9c9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Eyebrow"/>
          <p:cNvSpPr/>
          <p:nvPr/>
        </p:nvSpPr>
        <p:spPr>
          <a:xfrm>
            <a:off x="731520" y="1653480"/>
            <a:ext cx="1072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8" strike="noStrike">
                <a:solidFill>
                  <a:srgbClr val="8b1e2b"/>
                </a:solidFill>
                <a:latin typeface="Calibri"/>
                <a:ea typeface="Calibri"/>
              </a:rPr>
              <a:t>SUMMER INTERNSHIP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31520" y="2027520"/>
            <a:ext cx="10725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800" spc="-1" strike="noStrike">
                <a:solidFill>
                  <a:srgbClr val="16264d"/>
                </a:solidFill>
                <a:latin typeface="Georgia"/>
                <a:ea typeface="Georgia"/>
              </a:rPr>
              <a:t>Rising Waters</a:t>
            </a:r>
            <a:endParaRPr b="0" lang="en-US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88720" y="2949480"/>
            <a:ext cx="981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6264d"/>
                </a:solidFill>
                <a:latin typeface="Georgia"/>
                <a:ea typeface="Georgia"/>
              </a:rPr>
              <a:t>Machine Learning-Based Flood Prediction System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188720" y="3452400"/>
            <a:ext cx="981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44546a"/>
                </a:solidFill>
                <a:latin typeface="Georgia"/>
                <a:ea typeface="Georgia"/>
              </a:rPr>
              <a:t>Predicting Flood Risk from Rainfall and Weather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Duration"/>
          <p:cNvSpPr/>
          <p:nvPr/>
        </p:nvSpPr>
        <p:spPr>
          <a:xfrm>
            <a:off x="1188720" y="3886200"/>
            <a:ext cx="9811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b6b6b"/>
                </a:solidFill>
                <a:latin typeface="Calibri"/>
                <a:ea typeface="Calibri"/>
              </a:rPr>
              <a:t>Duration: 20 May 2026 – 20 July 2026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731520" y="4480560"/>
            <a:ext cx="1072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8b1e2b"/>
                </a:solidFill>
                <a:latin typeface="Calibri"/>
                <a:ea typeface="Calibri"/>
              </a:rPr>
              <a:t>SUBMITTED BY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731520" y="4777920"/>
            <a:ext cx="1072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64d"/>
                </a:solidFill>
                <a:latin typeface="Calibri"/>
                <a:ea typeface="Calibri"/>
              </a:rPr>
              <a:t>Kolakaluri Ramya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685800" y="5852160"/>
            <a:ext cx="1072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6b6b"/>
                </a:solidFill>
                <a:latin typeface="Calibri"/>
                <a:ea typeface="Calibri"/>
              </a:rPr>
              <a:t>Artificial Intelligence and Machine Learning | APSCHE-KickStack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685800" y="6187320"/>
            <a:ext cx="1072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a9a9a"/>
                </a:solidFill>
                <a:latin typeface="Calibri"/>
                <a:ea typeface="Calibri"/>
              </a:rPr>
              <a:t>A Summer Internship Report — APSCHE-KickStack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PROJECT OVERVIEW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Introduction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548640" y="1371600"/>
            <a:ext cx="11091240" cy="4891680"/>
          </a:xfrm>
          <a:prstGeom prst="roundRect">
            <a:avLst>
              <a:gd name="adj" fmla="val 1495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914400" y="1691640"/>
            <a:ext cx="1035972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1f2a24"/>
                </a:solidFill>
                <a:latin typeface="Calibri"/>
                <a:ea typeface="Calibri"/>
              </a:rPr>
              <a:t>Rising Waters is an advanced, data-driven machine learning system built to identify possible flood risks using rainfall and weather conditions.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1f2a24"/>
                </a:solidFill>
                <a:latin typeface="Calibri"/>
                <a:ea typeface="Calibri"/>
              </a:rPr>
              <a:t>It integrates historical weather data with trained ML models to assess flood risk in real time.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1f2a24"/>
                </a:solidFill>
                <a:latin typeface="Calibri"/>
                <a:ea typeface="Calibri"/>
              </a:rPr>
              <a:t>The system analyzes these inputs through a Flask web application to generate real-time flood risk predictions.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1f2a24"/>
                </a:solidFill>
                <a:latin typeface="Calibri"/>
                <a:ea typeface="Calibri"/>
              </a:rPr>
              <a:t>Purpose of this presentation: to walk through the motivation, design, development process, and outcomes of the Rising Waters internship project.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1f2a24"/>
                </a:solidFill>
                <a:latin typeface="Calibri"/>
                <a:ea typeface="Calibri"/>
              </a:rPr>
              <a:t>Ultimate goal: provide early flood warnings to support disaster management, evacuation planning, and resource allocation.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2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FOUNDATIONS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About the Project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548640" y="1417320"/>
            <a:ext cx="11091240" cy="1170000"/>
          </a:xfrm>
          <a:prstGeom prst="roundRect">
            <a:avLst>
              <a:gd name="adj" fmla="val 6250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868680" y="152712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4332"/>
                </a:solidFill>
                <a:latin typeface="Calibri"/>
                <a:ea typeface="Calibri"/>
              </a:rPr>
              <a:t>Duration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3749040" y="1527120"/>
            <a:ext cx="7680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a24"/>
                </a:solidFill>
                <a:latin typeface="Calibri"/>
                <a:ea typeface="Calibri"/>
              </a:rPr>
              <a:t>Summer Internship, 20 May – 20 July 2026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6"/>
          <p:cNvSpPr/>
          <p:nvPr/>
        </p:nvSpPr>
        <p:spPr>
          <a:xfrm>
            <a:off x="548640" y="2715840"/>
            <a:ext cx="11091240" cy="1170000"/>
          </a:xfrm>
          <a:prstGeom prst="roundRect">
            <a:avLst>
              <a:gd name="adj" fmla="val 6250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868680" y="282564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4332"/>
                </a:solidFill>
                <a:latin typeface="Calibri"/>
                <a:ea typeface="Calibri"/>
              </a:rPr>
              <a:t>Objective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3749040" y="2825640"/>
            <a:ext cx="7680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a24"/>
                </a:solidFill>
                <a:latin typeface="Calibri"/>
                <a:ea typeface="Calibri"/>
              </a:rPr>
              <a:t>Design and deploy a machine learning-based flood prediction engine integrated with a Flask web application.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9"/>
          <p:cNvSpPr/>
          <p:nvPr/>
        </p:nvSpPr>
        <p:spPr>
          <a:xfrm>
            <a:off x="548640" y="4014360"/>
            <a:ext cx="11091240" cy="1170000"/>
          </a:xfrm>
          <a:prstGeom prst="roundRect">
            <a:avLst>
              <a:gd name="adj" fmla="val 6250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868680" y="412380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4332"/>
                </a:solidFill>
                <a:latin typeface="Calibri"/>
                <a:ea typeface="Calibri"/>
              </a:rPr>
              <a:t>Track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3749040" y="4123800"/>
            <a:ext cx="7680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a24"/>
                </a:solidFill>
                <a:latin typeface="Calibri"/>
                <a:ea typeface="Calibri"/>
              </a:rPr>
              <a:t>Artificial Intelligence and Machine Learning, via APSCHE-KickStack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2"/>
          <p:cNvSpPr/>
          <p:nvPr/>
        </p:nvSpPr>
        <p:spPr>
          <a:xfrm>
            <a:off x="548640" y="5312520"/>
            <a:ext cx="11091240" cy="1170000"/>
          </a:xfrm>
          <a:prstGeom prst="roundRect">
            <a:avLst>
              <a:gd name="adj" fmla="val 6250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868680" y="542232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4332"/>
                </a:solidFill>
                <a:latin typeface="Calibri"/>
                <a:ea typeface="Calibri"/>
              </a:rPr>
              <a:t>Training Modules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3749040" y="5422320"/>
            <a:ext cx="7680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a24"/>
                </a:solidFill>
                <a:latin typeface="Calibri"/>
                <a:ea typeface="Calibri"/>
              </a:rPr>
              <a:t>Python &amp;amp; ML fundamentals, data preprocessing, model building &amp;amp; evaluation, Flask web development, and deployment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3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PROBLEM STATEMENT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Why Rising Waters?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548640" y="1554480"/>
            <a:ext cx="3529080" cy="4480200"/>
          </a:xfrm>
          <a:prstGeom prst="roundRect">
            <a:avLst>
              <a:gd name="adj" fmla="val 2073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804600" y="18288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4332"/>
                </a:solidFill>
                <a:latin typeface="Calibri"/>
                <a:ea typeface="Calibri"/>
              </a:rPr>
              <a:t>The Challenge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804600" y="2423160"/>
            <a:ext cx="3017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Communities often rely on delayed or manual flood monitoring, leading to inadequate preparation and slow disaster response.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6"/>
          <p:cNvSpPr/>
          <p:nvPr/>
        </p:nvSpPr>
        <p:spPr>
          <a:xfrm>
            <a:off x="4334400" y="1554480"/>
            <a:ext cx="3529080" cy="4480200"/>
          </a:xfrm>
          <a:prstGeom prst="roundRect">
            <a:avLst>
              <a:gd name="adj" fmla="val 2073"/>
            </a:avLst>
          </a:prstGeom>
          <a:solidFill>
            <a:srgbClr val="fbf1dd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4590360" y="18288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4332"/>
                </a:solidFill>
                <a:latin typeface="Calibri"/>
                <a:ea typeface="Calibri"/>
              </a:rPr>
              <a:t>The Gap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4590360" y="2423160"/>
            <a:ext cx="3017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Rainfall and weather patterns vary widely from region to region, yet there is no simple tool linking this data to real-time flood risk assessment.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8119800" y="1554480"/>
            <a:ext cx="3529080" cy="4480200"/>
          </a:xfrm>
          <a:prstGeom prst="roundRect">
            <a:avLst>
              <a:gd name="adj" fmla="val 2073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8375760" y="18288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4332"/>
                </a:solidFill>
                <a:latin typeface="Calibri"/>
                <a:ea typeface="Calibri"/>
              </a:rPr>
              <a:t>The Solution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8375760" y="2423160"/>
            <a:ext cx="3017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Rising Waters bridges historical weather data and machine learning — turning rainfall and weather readings into early, actionable flood warnings.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4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WHERE RISING WATERS FITS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Application Scenarios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548640" y="1554480"/>
            <a:ext cx="3529080" cy="4480200"/>
          </a:xfrm>
          <a:prstGeom prst="roundRect">
            <a:avLst>
              <a:gd name="adj" fmla="val 2073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804600" y="18288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996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80460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804600" y="246888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4332"/>
                </a:solidFill>
                <a:latin typeface="Calibri"/>
                <a:ea typeface="Calibri"/>
              </a:rPr>
              <a:t>Flood Risk Prediction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804600" y="3246120"/>
            <a:ext cx="30171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A user enters current rainfall and weather conditions. The system predicts whether flood conditions are likely, in real time.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4334400" y="1554480"/>
            <a:ext cx="3529080" cy="4480200"/>
          </a:xfrm>
          <a:prstGeom prst="roundRect">
            <a:avLst>
              <a:gd name="adj" fmla="val 2073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4590360" y="18288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996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459036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4590360" y="246888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4332"/>
                </a:solidFill>
                <a:latin typeface="Calibri"/>
                <a:ea typeface="Calibri"/>
              </a:rPr>
              <a:t>Disaster Management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4590360" y="3246120"/>
            <a:ext cx="30171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Authorities use early flood warnings generated by the system to coordinate disaster response and mitigate impact.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8119800" y="1554480"/>
            <a:ext cx="3529080" cy="4480200"/>
          </a:xfrm>
          <a:prstGeom prst="roundRect">
            <a:avLst>
              <a:gd name="adj" fmla="val 2073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8375760" y="18288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996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837576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8375760" y="246888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4332"/>
                </a:solidFill>
                <a:latin typeface="Calibri"/>
                <a:ea typeface="Calibri"/>
              </a:rPr>
              <a:t>Evacuation &amp;amp; Resource Planning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7"/>
          <p:cNvSpPr/>
          <p:nvPr/>
        </p:nvSpPr>
        <p:spPr>
          <a:xfrm>
            <a:off x="8375760" y="3246120"/>
            <a:ext cx="30171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Flood risk predictions support evacuation planning and resource allocation, helping communities prepare before flooding occurs.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8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5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METHODOLOGY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System Architecture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548640" y="1371600"/>
            <a:ext cx="11091240" cy="489168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548640" y="1371600"/>
            <a:ext cx="11091240" cy="489168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8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Image 0" descr="assets/architecture.png"/>
          <p:cNvPicPr/>
          <p:nvPr/>
        </p:nvPicPr>
        <p:blipFill>
          <a:blip r:embed="rId1"/>
          <a:stretch/>
        </p:blipFill>
        <p:spPr>
          <a:xfrm>
            <a:off x="1280160" y="1691640"/>
            <a:ext cx="9628200" cy="3794400"/>
          </a:xfrm>
          <a:prstGeom prst="rect">
            <a:avLst/>
          </a:prstGeom>
          <a:ln w="0">
            <a:noFill/>
          </a:ln>
        </p:spPr>
      </p:pic>
      <p:sp>
        <p:nvSpPr>
          <p:cNvPr id="84" name="Text 5"/>
          <p:cNvSpPr/>
          <p:nvPr/>
        </p:nvSpPr>
        <p:spPr>
          <a:xfrm>
            <a:off x="914400" y="5577840"/>
            <a:ext cx="10359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7a72"/>
                </a:solidFill>
                <a:latin typeface="Calibri"/>
                <a:ea typeface="Calibri"/>
              </a:rPr>
              <a:t>Weather data flows through preprocessing and feature scaling, then splits into train/test sets. An algorithm builds the model, which is evaluated and connected to the Flask UI, where user inputs generate real-time flood risk predictions.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6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TECH STACK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Technologies Used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548640" y="1463040"/>
            <a:ext cx="2651400" cy="1599840"/>
          </a:xfrm>
          <a:prstGeom prst="roundRect">
            <a:avLst>
              <a:gd name="adj" fmla="val 4571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713160" y="1645920"/>
            <a:ext cx="232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4332"/>
                </a:solidFill>
                <a:latin typeface="Calibri"/>
                <a:ea typeface="Calibri"/>
              </a:rPr>
              <a:t>Python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713160" y="217620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f2a24"/>
                </a:solidFill>
                <a:latin typeface="Calibri"/>
                <a:ea typeface="Calibri"/>
              </a:rPr>
              <a:t>Core programming language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3346560" y="1463040"/>
            <a:ext cx="2651400" cy="1599840"/>
          </a:xfrm>
          <a:prstGeom prst="roundRect">
            <a:avLst>
              <a:gd name="adj" fmla="val 4571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3511440" y="1645920"/>
            <a:ext cx="232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4332"/>
                </a:solidFill>
                <a:latin typeface="Calibri"/>
                <a:ea typeface="Calibri"/>
              </a:rPr>
              <a:t>Pandas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3511440" y="217620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f2a24"/>
                </a:solidFill>
                <a:latin typeface="Calibri"/>
                <a:ea typeface="Calibri"/>
              </a:rPr>
              <a:t>Data handling &amp;amp; analysis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6144840" y="1463040"/>
            <a:ext cx="2651400" cy="1599840"/>
          </a:xfrm>
          <a:prstGeom prst="roundRect">
            <a:avLst>
              <a:gd name="adj" fmla="val 4571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6309360" y="1645920"/>
            <a:ext cx="232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4332"/>
                </a:solidFill>
                <a:latin typeface="Calibri"/>
                <a:ea typeface="Calibri"/>
              </a:rPr>
              <a:t>Scikit-learn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6309360" y="217620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f2a24"/>
                </a:solidFill>
                <a:latin typeface="Calibri"/>
                <a:ea typeface="Calibri"/>
              </a:rPr>
              <a:t>Machine learning models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8942760" y="1463040"/>
            <a:ext cx="2651400" cy="1599840"/>
          </a:xfrm>
          <a:prstGeom prst="roundRect">
            <a:avLst>
              <a:gd name="adj" fmla="val 4571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9107280" y="1645920"/>
            <a:ext cx="232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4332"/>
                </a:solidFill>
                <a:latin typeface="Calibri"/>
                <a:ea typeface="Calibri"/>
              </a:rPr>
              <a:t>XGBoost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9107280" y="217620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f2a24"/>
                </a:solidFill>
                <a:latin typeface="Calibri"/>
                <a:ea typeface="Calibri"/>
              </a:rPr>
              <a:t>Gradient boosting model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548640" y="3264480"/>
            <a:ext cx="2651400" cy="1599840"/>
          </a:xfrm>
          <a:prstGeom prst="roundRect">
            <a:avLst>
              <a:gd name="adj" fmla="val 4571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713160" y="3447360"/>
            <a:ext cx="232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4332"/>
                </a:solidFill>
                <a:latin typeface="Calibri"/>
                <a:ea typeface="Calibri"/>
              </a:rPr>
              <a:t>HTML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713160" y="397764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f2a24"/>
                </a:solidFill>
                <a:latin typeface="Calibri"/>
                <a:ea typeface="Calibri"/>
              </a:rPr>
              <a:t>Frontend structure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8"/>
          <p:cNvSpPr/>
          <p:nvPr/>
        </p:nvSpPr>
        <p:spPr>
          <a:xfrm>
            <a:off x="3346560" y="3264480"/>
            <a:ext cx="2651400" cy="1599840"/>
          </a:xfrm>
          <a:prstGeom prst="roundRect">
            <a:avLst>
              <a:gd name="adj" fmla="val 4571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3511440" y="3447360"/>
            <a:ext cx="232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4332"/>
                </a:solidFill>
                <a:latin typeface="Calibri"/>
                <a:ea typeface="Calibri"/>
              </a:rPr>
              <a:t>CSS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0"/>
          <p:cNvSpPr/>
          <p:nvPr/>
        </p:nvSpPr>
        <p:spPr>
          <a:xfrm>
            <a:off x="3511440" y="397764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f2a24"/>
                </a:solidFill>
                <a:latin typeface="Calibri"/>
                <a:ea typeface="Calibri"/>
              </a:rPr>
              <a:t>Styling &amp;amp; layout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6144840" y="3264480"/>
            <a:ext cx="2651400" cy="1599840"/>
          </a:xfrm>
          <a:prstGeom prst="roundRect">
            <a:avLst>
              <a:gd name="adj" fmla="val 4571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2"/>
          <p:cNvSpPr/>
          <p:nvPr/>
        </p:nvSpPr>
        <p:spPr>
          <a:xfrm>
            <a:off x="6309360" y="3447360"/>
            <a:ext cx="232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4332"/>
                </a:solidFill>
                <a:latin typeface="Calibri"/>
                <a:ea typeface="Calibri"/>
              </a:rPr>
              <a:t>Flask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3"/>
          <p:cNvSpPr/>
          <p:nvPr/>
        </p:nvSpPr>
        <p:spPr>
          <a:xfrm>
            <a:off x="6309360" y="397764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f2a24"/>
                </a:solidFill>
                <a:latin typeface="Calibri"/>
                <a:ea typeface="Calibri"/>
              </a:rPr>
              <a:t>Web application framework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4"/>
          <p:cNvSpPr/>
          <p:nvPr/>
        </p:nvSpPr>
        <p:spPr>
          <a:xfrm>
            <a:off x="8942760" y="3264480"/>
            <a:ext cx="2651400" cy="1599840"/>
          </a:xfrm>
          <a:prstGeom prst="roundRect">
            <a:avLst>
              <a:gd name="adj" fmla="val 4571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25"/>
          <p:cNvSpPr/>
          <p:nvPr/>
        </p:nvSpPr>
        <p:spPr>
          <a:xfrm>
            <a:off x="9107280" y="3447360"/>
            <a:ext cx="232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4332"/>
                </a:solidFill>
                <a:latin typeface="Calibri"/>
                <a:ea typeface="Calibri"/>
              </a:rPr>
              <a:t>Joblib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6"/>
          <p:cNvSpPr/>
          <p:nvPr/>
        </p:nvSpPr>
        <p:spPr>
          <a:xfrm>
            <a:off x="9107280" y="397764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f2a24"/>
                </a:solidFill>
                <a:latin typeface="Calibri"/>
                <a:ea typeface="Calibri"/>
              </a:rPr>
              <a:t>Model persistence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7"/>
          <p:cNvSpPr/>
          <p:nvPr/>
        </p:nvSpPr>
        <p:spPr>
          <a:xfrm>
            <a:off x="548640" y="511164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9962b"/>
                </a:solidFill>
                <a:latin typeface="Calibri"/>
                <a:ea typeface="Calibri"/>
              </a:rPr>
              <a:t>Core Discipline: Machine Learning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8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7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GROWTH THROUGH THE PROJECT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Skills Gained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548640" y="1463040"/>
            <a:ext cx="5348880" cy="4754520"/>
          </a:xfrm>
          <a:prstGeom prst="roundRect">
            <a:avLst>
              <a:gd name="adj" fmla="val 1538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868680" y="16916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b4332"/>
                </a:solidFill>
                <a:latin typeface="Calibri"/>
                <a:ea typeface="Calibri"/>
              </a:rPr>
              <a:t>Technical Skills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868680" y="2286000"/>
            <a:ext cx="470880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Data preprocessing: handling missing values and feature scaling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Training &amp;amp; evaluating ML algorithms (Decision Tree, Random Forest, KNN, XGBoost)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Building modular Flask backends for prediction services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Model persistence and reuse with Joblib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Designing responsive UIs with HTML, CSS &amp;amp; JavaScript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6291000" y="1463040"/>
            <a:ext cx="5348880" cy="4754520"/>
          </a:xfrm>
          <a:prstGeom prst="roundRect">
            <a:avLst>
              <a:gd name="adj" fmla="val 1538"/>
            </a:avLst>
          </a:prstGeom>
          <a:solidFill>
            <a:srgbClr val="fbf1dd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6611040" y="16916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b4332"/>
                </a:solidFill>
                <a:latin typeface="Calibri"/>
                <a:ea typeface="Calibri"/>
              </a:rPr>
              <a:t>Soft Skills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6611040" y="2286000"/>
            <a:ext cx="470880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Analytical problem-solving with real-world weather and rainfall data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Structured project planning across epics and tasks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Clear technical documentation and reporting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Presenting complex ML concepts in an accessible way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Time management under internship deadlines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8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HOW RISING WATERS WAS BUILT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Development Approach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548640" y="1417320"/>
            <a:ext cx="11091240" cy="658080"/>
          </a:xfrm>
          <a:prstGeom prst="roundRect">
            <a:avLst>
              <a:gd name="adj" fmla="val 11111"/>
            </a:avLst>
          </a:prstGeom>
          <a:solidFill>
            <a:srgbClr val="e8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777240" y="1536120"/>
            <a:ext cx="420120" cy="420120"/>
          </a:xfrm>
          <a:prstGeom prst="ellipse">
            <a:avLst/>
          </a:prstGeom>
          <a:solidFill>
            <a:srgbClr val="1b4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777240" y="1536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1371600" y="1417320"/>
            <a:ext cx="10058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Environment Setup — Python 3.10+, virtual environment, and core libraries configured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7"/>
          <p:cNvSpPr/>
          <p:nvPr/>
        </p:nvSpPr>
        <p:spPr>
          <a:xfrm>
            <a:off x="548640" y="2194560"/>
            <a:ext cx="11091240" cy="658080"/>
          </a:xfrm>
          <a:prstGeom prst="roundRect">
            <a:avLst>
              <a:gd name="adj" fmla="val 11111"/>
            </a:avLst>
          </a:prstGeom>
          <a:solidFill>
            <a:srgbClr val="e8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777240" y="2313360"/>
            <a:ext cx="420120" cy="420120"/>
          </a:xfrm>
          <a:prstGeom prst="ellipse">
            <a:avLst/>
          </a:prstGeom>
          <a:solidFill>
            <a:srgbClr val="1b4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777240" y="2313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1371600" y="2194560"/>
            <a:ext cx="10058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Model Selection — preprocessed the weather dataset and compared Decision Tree, Random Forest, KNN, and XGBoost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548640" y="2971800"/>
            <a:ext cx="11091240" cy="658080"/>
          </a:xfrm>
          <a:prstGeom prst="roundRect">
            <a:avLst>
              <a:gd name="adj" fmla="val 11111"/>
            </a:avLst>
          </a:prstGeom>
          <a:solidFill>
            <a:srgbClr val="e8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2"/>
          <p:cNvSpPr/>
          <p:nvPr/>
        </p:nvSpPr>
        <p:spPr>
          <a:xfrm>
            <a:off x="777240" y="3090600"/>
            <a:ext cx="420120" cy="420120"/>
          </a:xfrm>
          <a:prstGeom prst="ellipse">
            <a:avLst/>
          </a:prstGeom>
          <a:solidFill>
            <a:srgbClr val="1b4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777240" y="3090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4"/>
          <p:cNvSpPr/>
          <p:nvPr/>
        </p:nvSpPr>
        <p:spPr>
          <a:xfrm>
            <a:off x="1371600" y="2971800"/>
            <a:ext cx="10058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Backend Development — modular Flask functions for preprocessing, training, and prediction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5"/>
          <p:cNvSpPr/>
          <p:nvPr/>
        </p:nvSpPr>
        <p:spPr>
          <a:xfrm>
            <a:off x="548640" y="3749040"/>
            <a:ext cx="11091240" cy="658080"/>
          </a:xfrm>
          <a:prstGeom prst="roundRect">
            <a:avLst>
              <a:gd name="adj" fmla="val 11111"/>
            </a:avLst>
          </a:prstGeom>
          <a:solidFill>
            <a:srgbClr val="e8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6"/>
          <p:cNvSpPr/>
          <p:nvPr/>
        </p:nvSpPr>
        <p:spPr>
          <a:xfrm>
            <a:off x="777240" y="3867840"/>
            <a:ext cx="420120" cy="420120"/>
          </a:xfrm>
          <a:prstGeom prst="ellipse">
            <a:avLst/>
          </a:prstGeom>
          <a:solidFill>
            <a:srgbClr val="1b4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7"/>
          <p:cNvSpPr/>
          <p:nvPr/>
        </p:nvSpPr>
        <p:spPr>
          <a:xfrm>
            <a:off x="777240" y="38678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1371600" y="3749040"/>
            <a:ext cx="10058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Data Persistence — trained model and transformer stored using Joblib for reuse during prediction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9"/>
          <p:cNvSpPr/>
          <p:nvPr/>
        </p:nvSpPr>
        <p:spPr>
          <a:xfrm>
            <a:off x="548640" y="4526280"/>
            <a:ext cx="11091240" cy="658080"/>
          </a:xfrm>
          <a:prstGeom prst="roundRect">
            <a:avLst>
              <a:gd name="adj" fmla="val 11111"/>
            </a:avLst>
          </a:prstGeom>
          <a:solidFill>
            <a:srgbClr val="e8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0"/>
          <p:cNvSpPr/>
          <p:nvPr/>
        </p:nvSpPr>
        <p:spPr>
          <a:xfrm>
            <a:off x="777240" y="4645080"/>
            <a:ext cx="420120" cy="420120"/>
          </a:xfrm>
          <a:prstGeom prst="ellipse">
            <a:avLst/>
          </a:prstGeom>
          <a:solidFill>
            <a:srgbClr val="1b4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21"/>
          <p:cNvSpPr/>
          <p:nvPr/>
        </p:nvSpPr>
        <p:spPr>
          <a:xfrm>
            <a:off x="777240" y="46450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2"/>
          <p:cNvSpPr/>
          <p:nvPr/>
        </p:nvSpPr>
        <p:spPr>
          <a:xfrm>
            <a:off x="1371600" y="4526280"/>
            <a:ext cx="10058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Frontend Development — responsive input forms and results built with HTML, CSS &amp;amp; JavaScript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3"/>
          <p:cNvSpPr/>
          <p:nvPr/>
        </p:nvSpPr>
        <p:spPr>
          <a:xfrm>
            <a:off x="548640" y="5303520"/>
            <a:ext cx="11091240" cy="658080"/>
          </a:xfrm>
          <a:prstGeom prst="roundRect">
            <a:avLst>
              <a:gd name="adj" fmla="val 11111"/>
            </a:avLst>
          </a:prstGeom>
          <a:solidFill>
            <a:srgbClr val="e8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4"/>
          <p:cNvSpPr/>
          <p:nvPr/>
        </p:nvSpPr>
        <p:spPr>
          <a:xfrm>
            <a:off x="777240" y="5422320"/>
            <a:ext cx="420120" cy="420120"/>
          </a:xfrm>
          <a:prstGeom prst="ellipse">
            <a:avLst/>
          </a:prstGeom>
          <a:solidFill>
            <a:srgbClr val="1b4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5"/>
          <p:cNvSpPr/>
          <p:nvPr/>
        </p:nvSpPr>
        <p:spPr>
          <a:xfrm>
            <a:off x="777240" y="5422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6"/>
          <p:cNvSpPr/>
          <p:nvPr/>
        </p:nvSpPr>
        <p:spPr>
          <a:xfrm>
            <a:off x="1371600" y="5303520"/>
            <a:ext cx="10058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Testing &amp;amp; Deployment — validated locally via the Flask development server and browser testing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7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9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WORKING TOGETHER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Team Collaboration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548640" y="1554480"/>
            <a:ext cx="3529080" cy="4480200"/>
          </a:xfrm>
          <a:prstGeom prst="roundRect">
            <a:avLst>
              <a:gd name="adj" fmla="val 2073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804600" y="18288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4332"/>
                </a:solidFill>
                <a:latin typeface="Calibri"/>
                <a:ea typeface="Calibri"/>
              </a:rPr>
              <a:t>Mentor Guidance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804600" y="2423160"/>
            <a:ext cx="3017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Regular check-ins with APSCHE-KickStack mentors to review progress, validate model choices, and refine the project roadmap.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4334400" y="1554480"/>
            <a:ext cx="3529080" cy="4480200"/>
          </a:xfrm>
          <a:prstGeom prst="roundRect">
            <a:avLst>
              <a:gd name="adj" fmla="val 2073"/>
            </a:avLst>
          </a:prstGeom>
          <a:solidFill>
            <a:srgbClr val="fbf1dd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4590360" y="18288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4332"/>
                </a:solidFill>
                <a:latin typeface="Calibri"/>
                <a:ea typeface="Calibri"/>
              </a:rPr>
              <a:t>Peer Discussions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4590360" y="2423160"/>
            <a:ext cx="3017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Collaborated with fellow interns to troubleshoot data preprocessing issues and compare approaches to model selection.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8119800" y="1554480"/>
            <a:ext cx="3529080" cy="4480200"/>
          </a:xfrm>
          <a:prstGeom prst="roundRect">
            <a:avLst>
              <a:gd name="adj" fmla="val 2073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8375760" y="18288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4332"/>
                </a:solidFill>
                <a:latin typeface="Calibri"/>
                <a:ea typeface="Calibri"/>
              </a:rPr>
              <a:t>Structured Reviews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8375760" y="2423160"/>
            <a:ext cx="3017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Work was tracked and reviewed across epics, stories, and subtasks, keeping development organized and on schedule.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10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OBSTACLES &amp;amp; RESOLUTIONS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Challenges Faced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548640" y="1371600"/>
            <a:ext cx="5394600" cy="4891680"/>
          </a:xfrm>
          <a:prstGeom prst="roundRect">
            <a:avLst>
              <a:gd name="adj" fmla="val 1495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868680" y="160020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4332"/>
                </a:solidFill>
                <a:latin typeface="Calibri"/>
                <a:ea typeface="Calibri"/>
              </a:rPr>
              <a:t>Key Challenges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868680" y="2148840"/>
            <a:ext cx="47545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Handling missing values and inconsistent scales across rainfall, temperature, humidity and other weather data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Selecting the best-performing algorithm among four candidate ML models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Balancing prediction accuracy with a simple, responsive Flask interface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6245280" y="1371600"/>
            <a:ext cx="5394600" cy="4891680"/>
          </a:xfrm>
          <a:prstGeom prst="roundRect">
            <a:avLst>
              <a:gd name="adj" fmla="val 1495"/>
            </a:avLst>
          </a:prstGeom>
          <a:solidFill>
            <a:srgbClr val="fbf1dd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6565320" y="160020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4332"/>
                </a:solidFill>
                <a:latin typeface="Calibri"/>
                <a:ea typeface="Calibri"/>
              </a:rPr>
              <a:t>How They Were Overcome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6565320" y="2148840"/>
            <a:ext cx="47545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Applied systematic preprocessing: cleaning, feature scaling, and data transformation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Compared models using accuracy and evaluation metrics before finalizing the best fit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f2a24"/>
                </a:solidFill>
                <a:latin typeface="Calibri"/>
                <a:ea typeface="Calibri"/>
              </a:rPr>
              <a:t>Iterated on the UI design and tested repeatedly with real weather input values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11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MILESTONES REACHED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Key Achievements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9" name="Achievements Table"/>
          <p:cNvGraphicFramePr/>
          <p:nvPr/>
        </p:nvGraphicFramePr>
        <p:xfrm>
          <a:off x="548640" y="1508760"/>
          <a:ext cx="11091240" cy="4600080"/>
        </p:xfrm>
        <a:graphic>
          <a:graphicData uri="http://schemas.openxmlformats.org/drawingml/2006/table">
            <a:tbl>
              <a:tblPr/>
              <a:tblGrid>
                <a:gridCol w="3697200"/>
                <a:gridCol w="3697200"/>
                <a:gridCol w="3697200"/>
              </a:tblGrid>
              <a:tr h="6001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Accomplishments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Certifications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Performance Recognition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b4332"/>
                    </a:solidFill>
                  </a:tcPr>
                </a:tc>
              </a:tr>
              <a:tr h="3999960">
                <a:tc>
                  <a:txBody>
                    <a:bodyPr anchor="t">
                      <a:noAutofit/>
                    </a:bodyPr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Built and deployed a working ML-based flood prediction engine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Compared four ML algorithms and selected the best-performing model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Designed and developed a complete Flask web application with a responsive UI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Achieved reliable, real-time flood risk predictions from live user input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APSCHE-KickStack Internship — Program Completion Certificate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Python &amp;amp; Machine Learning Fundamentals Certification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Flask Web Development Certification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Data Preprocessing &amp;amp; Model Evaluation Certification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Recognized for on-time delivery of all project milestones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Positive mentor feedback on model accuracy and design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Project highlighted as a strong cohort submission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2880" indent="-182880" defTabSz="914400">
                        <a:lnSpc>
                          <a:spcPct val="115000"/>
                        </a:lnSpc>
                        <a:spcAft>
                          <a:spcPts val="1199"/>
                        </a:spcAft>
                        <a:buClr>
                          <a:srgbClr val="1f2a24"/>
                        </a:buClr>
                        <a:buFont typeface="Arial"/>
                        <a:buChar char="•"/>
                      </a:pPr>
                      <a:r>
                        <a:rPr b="0" lang="en-US" sz="1100" spc="-1" strike="noStrike">
                          <a:solidFill>
                            <a:srgbClr val="1f2a24"/>
                          </a:solidFill>
                          <a:latin typeface="Calibri"/>
                        </a:rPr>
                        <a:t>Commended for clear documentation and presentation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3ec"/>
                    </a:solidFill>
                  </a:tcPr>
                </a:tc>
              </a:tr>
            </a:tbl>
          </a:graphicData>
        </a:graphic>
      </p:graphicFrame>
      <p:sp>
        <p:nvSpPr>
          <p:cNvPr id="180" name="Text 19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12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REFLECTION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Overall Learning Experience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548640" y="1371600"/>
            <a:ext cx="11091240" cy="4891680"/>
          </a:xfrm>
          <a:prstGeom prst="roundRect">
            <a:avLst>
              <a:gd name="adj" fmla="val 1495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914400" y="1691640"/>
            <a:ext cx="1035972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1f2a24"/>
                </a:solidFill>
                <a:latin typeface="Calibri"/>
                <a:ea typeface="Calibri"/>
              </a:rPr>
              <a:t>Gained hands-on experience applying machine learning algorithms to a real-world flood-prediction problem.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1f2a24"/>
                </a:solidFill>
                <a:latin typeface="Calibri"/>
                <a:ea typeface="Calibri"/>
              </a:rPr>
              <a:t>Learned the complete ML project lifecycle — from data preprocessing to model deployment.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1f2a24"/>
                </a:solidFill>
                <a:latin typeface="Calibri"/>
                <a:ea typeface="Calibri"/>
              </a:rPr>
              <a:t>Understood how to connect a trained model to an interactive Flask front end for real-time use.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1f2a24"/>
                </a:solidFill>
                <a:latin typeface="Calibri"/>
                <a:ea typeface="Calibri"/>
              </a:rPr>
              <a:t>Strengthened understanding of rainfall-weather relationships and flood risk patterns.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f2a2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1f2a24"/>
                </a:solidFill>
                <a:latin typeface="Calibri"/>
                <a:ea typeface="Calibri"/>
              </a:rPr>
              <a:t>Developed confidence in independently planning, building, and testing an end-to-end AI-powered application.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13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WHAT'S NEXT FOR RISING WATERS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Future Scope &amp;amp; Growth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3"/>
          <p:cNvSpPr/>
          <p:nvPr/>
        </p:nvSpPr>
        <p:spPr>
          <a:xfrm>
            <a:off x="548640" y="1463040"/>
            <a:ext cx="5348880" cy="2285640"/>
          </a:xfrm>
          <a:prstGeom prst="roundRect">
            <a:avLst>
              <a:gd name="adj" fmla="val 3200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822960" y="169164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4332"/>
                </a:solidFill>
                <a:latin typeface="Calibri"/>
                <a:ea typeface="Calibri"/>
              </a:rPr>
              <a:t>IoT Integration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822960" y="2240280"/>
            <a:ext cx="4800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Connect real-time IoT sensors and live weather feeds for continuous flood monitoring instead of manual input.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6291000" y="1463040"/>
            <a:ext cx="5348880" cy="2285640"/>
          </a:xfrm>
          <a:prstGeom prst="roundRect">
            <a:avLst>
              <a:gd name="adj" fmla="val 3200"/>
            </a:avLst>
          </a:prstGeom>
          <a:solidFill>
            <a:srgbClr val="fbf1dd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6565320" y="169164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4332"/>
                </a:solidFill>
                <a:latin typeface="Calibri"/>
                <a:ea typeface="Calibri"/>
              </a:rPr>
              <a:t>Expanded Recommendations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6565320" y="2240280"/>
            <a:ext cx="4800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Extend the model to suggest evacuation routes, resource allocation plans, and disaster response guidance.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548640" y="4069080"/>
            <a:ext cx="5348880" cy="2285640"/>
          </a:xfrm>
          <a:prstGeom prst="roundRect">
            <a:avLst>
              <a:gd name="adj" fmla="val 3200"/>
            </a:avLst>
          </a:prstGeom>
          <a:solidFill>
            <a:srgbClr val="e8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822960" y="429768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4332"/>
                </a:solidFill>
                <a:latin typeface="Calibri"/>
                <a:ea typeface="Calibri"/>
              </a:rPr>
              <a:t>Cloud Deployment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822960" y="4846320"/>
            <a:ext cx="4800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Deploy Rising Waters on cloud platforms for wider, always-on accessibility to communities and authorities.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6291000" y="4069080"/>
            <a:ext cx="5348880" cy="2285640"/>
          </a:xfrm>
          <a:prstGeom prst="roundRect">
            <a:avLst>
              <a:gd name="adj" fmla="val 3200"/>
            </a:avLst>
          </a:prstGeom>
          <a:solidFill>
            <a:srgbClr val="fbf1dd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4332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6565320" y="429768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4332"/>
                </a:solidFill>
                <a:latin typeface="Calibri"/>
                <a:ea typeface="Calibri"/>
              </a:rPr>
              <a:t>Accessibility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6565320" y="4846320"/>
            <a:ext cx="4800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a24"/>
                </a:solidFill>
                <a:latin typeface="Calibri"/>
                <a:ea typeface="Calibri"/>
              </a:rPr>
              <a:t>Add multilingual and voice-based interfaces to better serve vulnerable and rural communities.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14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CONCLUSION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Conclusion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548640" y="1493640"/>
            <a:ext cx="11091240" cy="1599840"/>
          </a:xfrm>
          <a:prstGeom prst="roundRect">
            <a:avLst>
              <a:gd name="adj" fmla="val 4500"/>
            </a:avLst>
          </a:prstGeom>
          <a:solidFill>
            <a:srgbClr val="e8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1097280" y="1593360"/>
            <a:ext cx="9993960" cy="13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1f2a24"/>
                </a:solidFill>
                <a:latin typeface="Calibri"/>
                <a:ea typeface="Calibri"/>
              </a:rPr>
              <a:t>Rising Waters evolved from an idea into a fully functional, data-driven flood prediction system — demonstrating how machine learning can turn rainfall and weather data into early, actionable flood warnings for disaster management.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tat Card"/>
          <p:cNvSpPr/>
          <p:nvPr/>
        </p:nvSpPr>
        <p:spPr>
          <a:xfrm>
            <a:off x="548640" y="3421440"/>
            <a:ext cx="3513960" cy="1599840"/>
          </a:xfrm>
          <a:prstGeom prst="roundRect">
            <a:avLst>
              <a:gd name="adj" fmla="val 6500"/>
            </a:avLst>
          </a:prstGeom>
          <a:solidFill>
            <a:srgbClr val="f4f6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tat Number"/>
          <p:cNvSpPr/>
          <p:nvPr/>
        </p:nvSpPr>
        <p:spPr>
          <a:xfrm>
            <a:off x="548640" y="3611520"/>
            <a:ext cx="3513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b4332"/>
                </a:solidFill>
                <a:latin typeface="Calibri"/>
                <a:ea typeface="Calibri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tat Label"/>
          <p:cNvSpPr/>
          <p:nvPr/>
        </p:nvSpPr>
        <p:spPr>
          <a:xfrm>
            <a:off x="640080" y="4342680"/>
            <a:ext cx="3331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b7a72"/>
                </a:solidFill>
                <a:latin typeface="Calibri"/>
                <a:ea typeface="Calibri"/>
              </a:rPr>
              <a:t>ML Algorithms Compared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tat Card"/>
          <p:cNvSpPr/>
          <p:nvPr/>
        </p:nvSpPr>
        <p:spPr>
          <a:xfrm>
            <a:off x="4337280" y="3421440"/>
            <a:ext cx="3513960" cy="1599840"/>
          </a:xfrm>
          <a:prstGeom prst="roundRect">
            <a:avLst>
              <a:gd name="adj" fmla="val 6500"/>
            </a:avLst>
          </a:prstGeom>
          <a:solidFill>
            <a:srgbClr val="f4f6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tat Number"/>
          <p:cNvSpPr/>
          <p:nvPr/>
        </p:nvSpPr>
        <p:spPr>
          <a:xfrm>
            <a:off x="4337280" y="3611520"/>
            <a:ext cx="3513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b4332"/>
                </a:solidFill>
                <a:latin typeface="Calibri"/>
                <a:ea typeface="Calibri"/>
              </a:rPr>
              <a:t>100%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tat Label"/>
          <p:cNvSpPr/>
          <p:nvPr/>
        </p:nvSpPr>
        <p:spPr>
          <a:xfrm>
            <a:off x="4428720" y="4342680"/>
            <a:ext cx="3331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b7a72"/>
                </a:solidFill>
                <a:latin typeface="Calibri"/>
                <a:ea typeface="Calibri"/>
              </a:rPr>
              <a:t>On-Time Delivery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tat Card"/>
          <p:cNvSpPr/>
          <p:nvPr/>
        </p:nvSpPr>
        <p:spPr>
          <a:xfrm>
            <a:off x="8125920" y="3421440"/>
            <a:ext cx="3513960" cy="1599840"/>
          </a:xfrm>
          <a:prstGeom prst="roundRect">
            <a:avLst>
              <a:gd name="adj" fmla="val 6500"/>
            </a:avLst>
          </a:prstGeom>
          <a:solidFill>
            <a:srgbClr val="f4f6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tat Number"/>
          <p:cNvSpPr/>
          <p:nvPr/>
        </p:nvSpPr>
        <p:spPr>
          <a:xfrm>
            <a:off x="8125920" y="3611520"/>
            <a:ext cx="3513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b4332"/>
                </a:solidFill>
                <a:latin typeface="Calibri"/>
                <a:ea typeface="Calibri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tat Label"/>
          <p:cNvSpPr/>
          <p:nvPr/>
        </p:nvSpPr>
        <p:spPr>
          <a:xfrm>
            <a:off x="8217360" y="4342680"/>
            <a:ext cx="3331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b7a72"/>
                </a:solidFill>
                <a:latin typeface="Calibri"/>
                <a:ea typeface="Calibri"/>
              </a:rPr>
              <a:t>Certifications Earned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8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15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548640" y="25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9962b"/>
                </a:solidFill>
                <a:latin typeface="Calibri"/>
                <a:ea typeface="Calibri"/>
              </a:rPr>
              <a:t>ACKNOWLEDGEMENT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2"/>
          <p:cNvSpPr/>
          <p:nvPr/>
        </p:nvSpPr>
        <p:spPr>
          <a:xfrm>
            <a:off x="548640" y="502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4332"/>
                </a:solidFill>
                <a:latin typeface="Calibri"/>
                <a:ea typeface="Calibri"/>
              </a:rPr>
              <a:t>With Sincere Gratitude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Badge"/>
          <p:cNvSpPr/>
          <p:nvPr/>
        </p:nvSpPr>
        <p:spPr>
          <a:xfrm>
            <a:off x="777240" y="188496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c996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Check"/>
          <p:cNvSpPr/>
          <p:nvPr/>
        </p:nvSpPr>
        <p:spPr>
          <a:xfrm>
            <a:off x="777240" y="18849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Item Text"/>
          <p:cNvSpPr/>
          <p:nvPr/>
        </p:nvSpPr>
        <p:spPr>
          <a:xfrm>
            <a:off x="1463040" y="1884960"/>
            <a:ext cx="10177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f2a24"/>
                </a:solidFill>
                <a:latin typeface="Calibri"/>
                <a:ea typeface="Calibri"/>
              </a:rPr>
              <a:t>Grateful to the internship organization for providing the opportunity to work on Rising Waters and gain valuable hands-on industry experience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Badge"/>
          <p:cNvSpPr/>
          <p:nvPr/>
        </p:nvSpPr>
        <p:spPr>
          <a:xfrm>
            <a:off x="777240" y="299052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c996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Check"/>
          <p:cNvSpPr/>
          <p:nvPr/>
        </p:nvSpPr>
        <p:spPr>
          <a:xfrm>
            <a:off x="777240" y="2990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Item Text"/>
          <p:cNvSpPr/>
          <p:nvPr/>
        </p:nvSpPr>
        <p:spPr>
          <a:xfrm>
            <a:off x="1463040" y="2990520"/>
            <a:ext cx="10177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f2a24"/>
                </a:solidFill>
                <a:latin typeface="Calibri"/>
                <a:ea typeface="Calibri"/>
              </a:rPr>
              <a:t>Heartfelt thanks to my mentors and project guides for their invaluable guidance, technical insight, and encouragement throughout the project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Badge"/>
          <p:cNvSpPr/>
          <p:nvPr/>
        </p:nvSpPr>
        <p:spPr>
          <a:xfrm>
            <a:off x="777240" y="409608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c996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Check"/>
          <p:cNvSpPr/>
          <p:nvPr/>
        </p:nvSpPr>
        <p:spPr>
          <a:xfrm>
            <a:off x="777240" y="4096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Item Text"/>
          <p:cNvSpPr/>
          <p:nvPr/>
        </p:nvSpPr>
        <p:spPr>
          <a:xfrm>
            <a:off x="1463040" y="4096080"/>
            <a:ext cx="10177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f2a24"/>
                </a:solidFill>
                <a:latin typeface="Calibri"/>
                <a:ea typeface="Calibri"/>
              </a:rPr>
              <a:t>Sincere appreciation to the development team and colleagues for their collaboration, support, and valuable feedback at every stage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Badge"/>
          <p:cNvSpPr/>
          <p:nvPr/>
        </p:nvSpPr>
        <p:spPr>
          <a:xfrm>
            <a:off x="777240" y="520164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c996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Check"/>
          <p:cNvSpPr/>
          <p:nvPr/>
        </p:nvSpPr>
        <p:spPr>
          <a:xfrm>
            <a:off x="777240" y="520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Item Text"/>
          <p:cNvSpPr/>
          <p:nvPr/>
        </p:nvSpPr>
        <p:spPr>
          <a:xfrm>
            <a:off x="1463040" y="5201640"/>
            <a:ext cx="10177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f2a24"/>
                </a:solidFill>
                <a:latin typeface="Calibri"/>
                <a:ea typeface="Calibri"/>
              </a:rPr>
              <a:t>Warm thanks to everyone who contributed, directly or indirectly, to the successful completion of this project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111099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72"/>
                </a:solidFill>
                <a:latin typeface="Calibri"/>
                <a:ea typeface="Calibri"/>
              </a:rPr>
              <a:t>16 / 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9692640" y="-1463040"/>
            <a:ext cx="4571640" cy="4571640"/>
          </a:xfrm>
          <a:prstGeom prst="ellipse">
            <a:avLst/>
          </a:prstGeom>
          <a:solidFill>
            <a:srgbClr val="e8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"/>
          <p:cNvSpPr/>
          <p:nvPr/>
        </p:nvSpPr>
        <p:spPr>
          <a:xfrm>
            <a:off x="-1645920" y="4754880"/>
            <a:ext cx="3840120" cy="3840120"/>
          </a:xfrm>
          <a:prstGeom prst="ellipse">
            <a:avLst/>
          </a:prstGeom>
          <a:solidFill>
            <a:srgbClr val="e8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731520" y="3086280"/>
            <a:ext cx="10725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pc="-1" strike="noStrike">
                <a:solidFill>
                  <a:srgbClr val="1b4332"/>
                </a:solidFill>
                <a:latin typeface="Georgia"/>
                <a:ea typeface="Georgia"/>
              </a:rPr>
              <a:t>Thank You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2026-07-11T13:00:13Z</dcterms:created>
  <dc:creator>PptxGenJS</dc:creator>
  <dc:description/>
  <dc:language>en-US</dc:language>
  <cp:lastModifiedBy/>
  <dcterms:modified xsi:type="dcterms:W3CDTF">2026-07-12T20:19:19Z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